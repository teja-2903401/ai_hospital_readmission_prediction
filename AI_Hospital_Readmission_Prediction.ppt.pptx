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ter Bold" panose="020B0604020202020204" charset="0"/>
      <p:regular r:id="rId21"/>
    </p:embeddedFont>
    <p:embeddedFont>
      <p:font typeface="Inter Light" panose="020B0604020202020204" charset="0"/>
      <p:regular r:id="rId22"/>
    </p:embeddedFont>
    <p:embeddedFont>
      <p:font typeface="Montserrat Light" panose="00000400000000000000" pitchFamily="2" charset="0"/>
      <p:regular r:id="rId23"/>
    </p:embeddedFont>
    <p:embeddedFont>
      <p:font typeface="Montserrat Medium" panose="00000600000000000000" pitchFamily="2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0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2789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C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AI Hospital Readmission Risk Prediction</a:t>
            </a:r>
            <a:endParaRPr lang="en-US" sz="3700" dirty="0">
              <a:solidFill>
                <a:srgbClr val="C0000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3192661"/>
            <a:ext cx="6296860" cy="193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Intelligent Machine Learning-Based Healthcare Prediction Platform</a:t>
            </a:r>
            <a:endParaRPr lang="en-US" sz="1450" b="1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Technologies:</a:t>
            </a: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React • FastAPI • Python • Machine Learning • MySQL • Power BI</a:t>
            </a:r>
            <a:endParaRPr lang="en-US" sz="14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3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0B0F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Introduction</a:t>
            </a:r>
            <a:endParaRPr lang="en-US" sz="3700" dirty="0">
              <a:solidFill>
                <a:srgbClr val="00B0F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25350" y="2026845"/>
            <a:ext cx="5476043" cy="3697089"/>
          </a:xfrm>
          <a:prstGeom prst="roundRect">
            <a:avLst>
              <a:gd name="adj" fmla="val 7362"/>
            </a:avLst>
          </a:prstGeom>
          <a:solidFill>
            <a:srgbClr val="C6C9DC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20652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Introduction</a:t>
            </a:r>
            <a:endParaRPr lang="en-US" sz="1850" b="1" dirty="0"/>
          </a:p>
        </p:txBody>
      </p:sp>
      <p:sp>
        <p:nvSpPr>
          <p:cNvPr id="5" name="Text 3"/>
          <p:cNvSpPr/>
          <p:nvPr/>
        </p:nvSpPr>
        <p:spPr>
          <a:xfrm>
            <a:off x="714357" y="2690813"/>
            <a:ext cx="5098029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Hospital readmission occurs when a patient returns to the hospital after discharge within a specific period.</a:t>
            </a:r>
            <a:endParaRPr lang="en-US" sz="1450" b="1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Frequent readmissions can:</a:t>
            </a:r>
            <a:endParaRPr lang="en-US" sz="1450" b="1" dirty="0"/>
          </a:p>
        </p:txBody>
      </p:sp>
      <p:sp>
        <p:nvSpPr>
          <p:cNvPr id="6" name="Text 4"/>
          <p:cNvSpPr/>
          <p:nvPr/>
        </p:nvSpPr>
        <p:spPr>
          <a:xfrm>
            <a:off x="714357" y="3938191"/>
            <a:ext cx="5098029" cy="171033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Increase healthcare costs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Increase the workload on healthcare professionals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Affect hospital resource utilization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Indicate that a patient may require additional post-discharge care</a:t>
            </a:r>
            <a:endParaRPr lang="en-US" sz="1450" b="1" dirty="0"/>
          </a:p>
        </p:txBody>
      </p:sp>
      <p:sp>
        <p:nvSpPr>
          <p:cNvPr id="7" name="Text 5"/>
          <p:cNvSpPr/>
          <p:nvPr/>
        </p:nvSpPr>
        <p:spPr>
          <a:xfrm>
            <a:off x="6332776" y="220652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206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Our Solution</a:t>
            </a:r>
            <a:endParaRPr lang="en-US" sz="1850" b="1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332776" y="2690813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proposed system uses </a:t>
            </a:r>
            <a:r>
              <a:rPr lang="en-US" sz="145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</a:t>
            </a: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to predict the risk of hospital readmission based on patient, admission, clinical, and healthcare-related information</a:t>
            </a: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45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7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206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Problem Statement</a:t>
            </a:r>
            <a:endParaRPr lang="en-US" sz="3700" b="1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7528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accent2">
                    <a:lumMod val="50000"/>
                  </a:scheme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Problem Statement</a:t>
            </a:r>
            <a:endParaRPr lang="en-US" sz="185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237184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Traditional healthcare systems mainly depend on clinical judgment and historical information to identify patients who may be readmitted.</a:t>
            </a:r>
            <a:endParaRPr lang="en-US" sz="1450" b="1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However:</a:t>
            </a:r>
            <a:endParaRPr lang="en-US" sz="1450" b="1" dirty="0"/>
          </a:p>
        </p:txBody>
      </p:sp>
      <p:sp>
        <p:nvSpPr>
          <p:cNvPr id="5" name="Text 3"/>
          <p:cNvSpPr/>
          <p:nvPr/>
        </p:nvSpPr>
        <p:spPr>
          <a:xfrm>
            <a:off x="661475" y="3786981"/>
            <a:ext cx="5203794" cy="231517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Large amounts of patient data are difficult to analyze manually.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High-risk patients may not always be identified early.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Hospitals need better methods for prioritizing patients who require additional attention.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Historical admission information can be difficult to interpret efficiently.</a:t>
            </a:r>
            <a:endParaRPr lang="en-US" sz="1450" b="1" dirty="0"/>
          </a:p>
        </p:txBody>
      </p:sp>
      <p:sp>
        <p:nvSpPr>
          <p:cNvPr id="6" name="Shape 4"/>
          <p:cNvSpPr/>
          <p:nvPr/>
        </p:nvSpPr>
        <p:spPr>
          <a:xfrm>
            <a:off x="6196651" y="1563886"/>
            <a:ext cx="5476043" cy="4604345"/>
          </a:xfrm>
          <a:prstGeom prst="roundRect">
            <a:avLst>
              <a:gd name="adj" fmla="val 5912"/>
            </a:avLst>
          </a:prstGeom>
          <a:solidFill>
            <a:srgbClr val="C6C9DC"/>
          </a:solidFill>
          <a:ln/>
        </p:spPr>
      </p:sp>
      <p:sp>
        <p:nvSpPr>
          <p:cNvPr id="7" name="Text 5"/>
          <p:cNvSpPr/>
          <p:nvPr/>
        </p:nvSpPr>
        <p:spPr>
          <a:xfrm>
            <a:off x="6385658" y="175289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Goal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237184"/>
            <a:ext cx="50980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Develop an intelligent system that can analyze patient and admission information and provide a </a:t>
            </a:r>
            <a:r>
              <a:rPr lang="en-US" sz="145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readmission risk prediction</a:t>
            </a: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4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859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70C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Objectives</a:t>
            </a:r>
            <a:endParaRPr lang="en-US" sz="3400" b="1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39164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678091"/>
            <a:ext cx="53540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" name="Text 3"/>
          <p:cNvSpPr/>
          <p:nvPr/>
        </p:nvSpPr>
        <p:spPr>
          <a:xfrm>
            <a:off x="741840" y="1793974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Collect and manage patient information</a:t>
            </a: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76113" y="139164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6113" y="1668760"/>
            <a:ext cx="53541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8" name="Text 6"/>
          <p:cNvSpPr/>
          <p:nvPr/>
        </p:nvSpPr>
        <p:spPr>
          <a:xfrm>
            <a:off x="6176113" y="1793974"/>
            <a:ext cx="53541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Store hospital admission information</a:t>
            </a: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475" y="2357438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1475" y="2617093"/>
            <a:ext cx="53540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2759770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Process clinical and demographic data</a:t>
            </a: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76113" y="2357438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6113" y="2617093"/>
            <a:ext cx="53541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6113" y="2759770"/>
            <a:ext cx="53541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Apply Machine Learning models for prediction</a:t>
            </a: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1475" y="332323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1475" y="3565525"/>
            <a:ext cx="53540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3725565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Calculate readmission probability</a:t>
            </a: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76113" y="332323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6113" y="3565525"/>
            <a:ext cx="53541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0" name="Text 18"/>
          <p:cNvSpPr/>
          <p:nvPr/>
        </p:nvSpPr>
        <p:spPr>
          <a:xfrm>
            <a:off x="6176113" y="3725565"/>
            <a:ext cx="53541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Classify patients into risk levels</a:t>
            </a: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1475" y="4289028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1475" y="4513858"/>
            <a:ext cx="53540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4691360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Display important risk factors</a:t>
            </a:r>
            <a:r>
              <a:rPr lang="en-US" sz="17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700" b="1" dirty="0"/>
          </a:p>
        </p:txBody>
      </p:sp>
      <p:sp>
        <p:nvSpPr>
          <p:cNvPr id="24" name="Text 22"/>
          <p:cNvSpPr/>
          <p:nvPr/>
        </p:nvSpPr>
        <p:spPr>
          <a:xfrm>
            <a:off x="6176113" y="4289028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08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6113" y="4513858"/>
            <a:ext cx="53541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6" name="Text 24"/>
          <p:cNvSpPr/>
          <p:nvPr/>
        </p:nvSpPr>
        <p:spPr>
          <a:xfrm>
            <a:off x="6176113" y="4691360"/>
            <a:ext cx="53541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Maintain prediction history</a:t>
            </a:r>
            <a:r>
              <a:rPr lang="en-US" sz="1700" b="1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700" b="1" dirty="0"/>
          </a:p>
        </p:txBody>
      </p:sp>
      <p:sp>
        <p:nvSpPr>
          <p:cNvPr id="27" name="Text 25"/>
          <p:cNvSpPr/>
          <p:nvPr/>
        </p:nvSpPr>
        <p:spPr>
          <a:xfrm>
            <a:off x="661475" y="525482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09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1475" y="5462290"/>
            <a:ext cx="53540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9" name="Text 27"/>
          <p:cNvSpPr/>
          <p:nvPr/>
        </p:nvSpPr>
        <p:spPr>
          <a:xfrm>
            <a:off x="661475" y="5657155"/>
            <a:ext cx="535400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Provide a doctor-friendly dashboard</a:t>
            </a:r>
            <a:r>
              <a:rPr lang="en-US" sz="17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176113" y="525482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10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176113" y="5462290"/>
            <a:ext cx="5354107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32" name="Text 30"/>
          <p:cNvSpPr/>
          <p:nvPr/>
        </p:nvSpPr>
        <p:spPr>
          <a:xfrm>
            <a:off x="6194494" y="5657155"/>
            <a:ext cx="5354107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Support hospital data analysis through visualization.</a:t>
            </a:r>
            <a:endParaRPr lang="en-US" sz="17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41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bg2">
                    <a:lumMod val="10000"/>
                  </a:scheme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Proposed System</a:t>
            </a:r>
            <a:endParaRPr lang="en-US" sz="37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66280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system provides an integrated platform for</a:t>
            </a: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</a:t>
            </a:r>
            <a:endParaRPr lang="en-US" sz="1450" b="1" dirty="0"/>
          </a:p>
        </p:txBody>
      </p:sp>
      <p:sp>
        <p:nvSpPr>
          <p:cNvPr id="4" name="Shape 2"/>
          <p:cNvSpPr/>
          <p:nvPr/>
        </p:nvSpPr>
        <p:spPr>
          <a:xfrm>
            <a:off x="655124" y="2177852"/>
            <a:ext cx="5339820" cy="1101824"/>
          </a:xfrm>
          <a:prstGeom prst="roundRect">
            <a:avLst>
              <a:gd name="adj" fmla="val 15440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37321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accent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Patient Management</a:t>
            </a:r>
            <a:endParaRPr lang="en-US" sz="185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56832" y="278189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→ </a:t>
            </a: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Patient registration and information management</a:t>
            </a:r>
            <a:endParaRPr lang="en-US" sz="1450" b="1" dirty="0"/>
          </a:p>
        </p:txBody>
      </p:sp>
      <p:sp>
        <p:nvSpPr>
          <p:cNvPr id="7" name="Shape 5"/>
          <p:cNvSpPr/>
          <p:nvPr/>
        </p:nvSpPr>
        <p:spPr>
          <a:xfrm>
            <a:off x="6190301" y="2177852"/>
            <a:ext cx="5339919" cy="1101824"/>
          </a:xfrm>
          <a:prstGeom prst="roundRect">
            <a:avLst>
              <a:gd name="adj" fmla="val 15440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5658" y="237321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accent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Admission Management</a:t>
            </a:r>
            <a:endParaRPr lang="en-US" sz="1850" dirty="0">
              <a:solidFill>
                <a:schemeClr val="accent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385658" y="2781895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→ </a:t>
            </a: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Create and manage multiple hospital admissions</a:t>
            </a:r>
            <a:endParaRPr lang="en-US" sz="1450" b="1" dirty="0"/>
          </a:p>
        </p:txBody>
      </p:sp>
      <p:sp>
        <p:nvSpPr>
          <p:cNvPr id="10" name="Shape 8"/>
          <p:cNvSpPr/>
          <p:nvPr/>
        </p:nvSpPr>
        <p:spPr>
          <a:xfrm>
            <a:off x="661475" y="3468687"/>
            <a:ext cx="5339820" cy="1101824"/>
          </a:xfrm>
          <a:prstGeom prst="roundRect">
            <a:avLst>
              <a:gd name="adj" fmla="val 15440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832" y="36640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accent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Clinical Data</a:t>
            </a:r>
            <a:endParaRPr lang="en-US" sz="1850" dirty="0">
              <a:solidFill>
                <a:schemeClr val="accent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6832" y="4072731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→ Capture important clinical measurements</a:t>
            </a:r>
            <a:endParaRPr lang="en-US" sz="1450" b="1" dirty="0"/>
          </a:p>
        </p:txBody>
      </p:sp>
      <p:sp>
        <p:nvSpPr>
          <p:cNvPr id="13" name="Shape 11"/>
          <p:cNvSpPr/>
          <p:nvPr/>
        </p:nvSpPr>
        <p:spPr>
          <a:xfrm>
            <a:off x="6196652" y="3429000"/>
            <a:ext cx="5339919" cy="1101824"/>
          </a:xfrm>
          <a:prstGeom prst="roundRect">
            <a:avLst>
              <a:gd name="adj" fmla="val 15440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6385658" y="36640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accent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Machine Learning</a:t>
            </a:r>
            <a:endParaRPr lang="en-US" sz="1850" dirty="0">
              <a:solidFill>
                <a:schemeClr val="accent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85658" y="4072731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→ </a:t>
            </a: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Predict readmission risk</a:t>
            </a:r>
            <a:endParaRPr lang="en-US" sz="1450" b="1" dirty="0"/>
          </a:p>
        </p:txBody>
      </p:sp>
      <p:sp>
        <p:nvSpPr>
          <p:cNvPr id="16" name="Shape 14"/>
          <p:cNvSpPr/>
          <p:nvPr/>
        </p:nvSpPr>
        <p:spPr>
          <a:xfrm>
            <a:off x="655124" y="4759522"/>
            <a:ext cx="5339820" cy="1404243"/>
          </a:xfrm>
          <a:prstGeom prst="roundRect">
            <a:avLst>
              <a:gd name="adj" fmla="val 12114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856832" y="4954885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accent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Risk Analysis</a:t>
            </a:r>
            <a:endParaRPr lang="en-US" sz="1850" dirty="0">
              <a:solidFill>
                <a:schemeClr val="accent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6832" y="5363567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→ </a:t>
            </a: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Probability score and risk classification</a:t>
            </a:r>
            <a:endParaRPr lang="en-US" sz="1450" b="1" dirty="0"/>
          </a:p>
        </p:txBody>
      </p:sp>
      <p:sp>
        <p:nvSpPr>
          <p:cNvPr id="19" name="Shape 17"/>
          <p:cNvSpPr/>
          <p:nvPr/>
        </p:nvSpPr>
        <p:spPr>
          <a:xfrm>
            <a:off x="6190301" y="4759523"/>
            <a:ext cx="5339919" cy="1404243"/>
          </a:xfrm>
          <a:prstGeom prst="roundRect">
            <a:avLst>
              <a:gd name="adj" fmla="val 12114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5658" y="4954885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accent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Dashboard</a:t>
            </a:r>
            <a:endParaRPr lang="en-US" sz="1850" dirty="0">
              <a:solidFill>
                <a:schemeClr val="accent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85658" y="5363567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→ </a:t>
            </a: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Monitor patients, admissions, predictions, and analytics</a:t>
            </a:r>
            <a:endParaRPr lang="en-US" sz="14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C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Overall Project Flow</a:t>
            </a:r>
            <a:endParaRPr lang="en-US" sz="2800" dirty="0">
              <a:solidFill>
                <a:srgbClr val="C00000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9" y="980976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33270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61475" y="685174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System Architecture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946862"/>
            <a:ext cx="10868745" cy="4120356"/>
          </a:xfrm>
          <a:prstGeom prst="roundRect">
            <a:avLst>
              <a:gd name="adj" fmla="val 2064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1003995"/>
            <a:ext cx="10641937" cy="393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┌─────────────────┐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React Frontend  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└────────┬────────┘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 REST API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▼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┌─────────────────┐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FastAPI Backend 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└────────┬────────┘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┌────┴────┐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▼         ▼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┌──────────────┐  ┌───────────────┐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MySQL        │  │ ML Prediction 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Database     │  │ Service       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└──────────────┘  └───────┬───────┘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▼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Risk Prediction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│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▼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React Dashboard</a:t>
            </a:r>
            <a:endParaRPr lang="en-US" sz="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75" y="5100737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Technologies</a:t>
            </a:r>
            <a:endParaRPr lang="en-US" sz="900" b="1" dirty="0"/>
          </a:p>
        </p:txBody>
      </p:sp>
      <p:sp>
        <p:nvSpPr>
          <p:cNvPr id="6" name="Shape 4"/>
          <p:cNvSpPr/>
          <p:nvPr/>
        </p:nvSpPr>
        <p:spPr>
          <a:xfrm>
            <a:off x="661475" y="5328547"/>
            <a:ext cx="5410759" cy="490934"/>
          </a:xfrm>
          <a:prstGeom prst="roundRect">
            <a:avLst>
              <a:gd name="adj" fmla="val 17326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279" y="5420023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279" y="5595938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React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119461" y="5319216"/>
            <a:ext cx="5410759" cy="490934"/>
          </a:xfrm>
          <a:prstGeom prst="roundRect">
            <a:avLst>
              <a:gd name="adj" fmla="val 17326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0265" y="5420023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Backend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0265" y="5595938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FastAPI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1475" y="5857379"/>
            <a:ext cx="5410759" cy="490934"/>
          </a:xfrm>
          <a:prstGeom prst="roundRect">
            <a:avLst>
              <a:gd name="adj" fmla="val 17326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279" y="5958185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2279" y="6134100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MySQL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119461" y="5857379"/>
            <a:ext cx="5410759" cy="490934"/>
          </a:xfrm>
          <a:prstGeom prst="roundRect">
            <a:avLst>
              <a:gd name="adj" fmla="val 17326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0265" y="5958185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20265" y="6134100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Python / Scikit-learn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61475" y="6395541"/>
            <a:ext cx="5410759" cy="490934"/>
          </a:xfrm>
          <a:prstGeom prst="roundRect">
            <a:avLst>
              <a:gd name="adj" fmla="val 17326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279" y="6496348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2279" y="6672263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Power BI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119461" y="6395541"/>
            <a:ext cx="5410759" cy="490934"/>
          </a:xfrm>
          <a:prstGeom prst="roundRect">
            <a:avLst>
              <a:gd name="adj" fmla="val 17326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0265" y="6496348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API Communication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20265" y="6672263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REST API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59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206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Patient &amp; Admission Management</a:t>
            </a:r>
            <a:endParaRPr lang="en-US" sz="2750" b="1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17700" y="1118294"/>
            <a:ext cx="5465626" cy="2671663"/>
          </a:xfrm>
          <a:prstGeom prst="roundRect">
            <a:avLst>
              <a:gd name="adj" fmla="val 7641"/>
            </a:avLst>
          </a:prstGeom>
          <a:solidFill>
            <a:srgbClr val="C6C9DC"/>
          </a:solidFill>
          <a:ln/>
        </p:spPr>
      </p:sp>
      <p:sp>
        <p:nvSpPr>
          <p:cNvPr id="4" name="Text 2"/>
          <p:cNvSpPr/>
          <p:nvPr/>
        </p:nvSpPr>
        <p:spPr>
          <a:xfrm>
            <a:off x="701062" y="1242318"/>
            <a:ext cx="51822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Patient Management</a:t>
            </a:r>
            <a:endParaRPr lang="en-US" sz="1350" b="1" dirty="0"/>
          </a:p>
        </p:txBody>
      </p:sp>
      <p:sp>
        <p:nvSpPr>
          <p:cNvPr id="5" name="Text 3"/>
          <p:cNvSpPr/>
          <p:nvPr/>
        </p:nvSpPr>
        <p:spPr>
          <a:xfrm>
            <a:off x="701062" y="1570038"/>
            <a:ext cx="579184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system stores:</a:t>
            </a:r>
            <a:endParaRPr lang="en-US" sz="1100" b="1" dirty="0"/>
          </a:p>
        </p:txBody>
      </p:sp>
      <p:sp>
        <p:nvSpPr>
          <p:cNvPr id="6" name="Text 4"/>
          <p:cNvSpPr/>
          <p:nvPr/>
        </p:nvSpPr>
        <p:spPr>
          <a:xfrm>
            <a:off x="701062" y="1864122"/>
            <a:ext cx="5182264" cy="1847949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Patient ID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Age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Gender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State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BPL Card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Insurance Type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Comorbidity Count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Previous Admissions</a:t>
            </a:r>
            <a:endParaRPr lang="en-US" sz="1100" b="1" dirty="0"/>
          </a:p>
        </p:txBody>
      </p:sp>
      <p:sp>
        <p:nvSpPr>
          <p:cNvPr id="7" name="Text 5"/>
          <p:cNvSpPr/>
          <p:nvPr/>
        </p:nvSpPr>
        <p:spPr>
          <a:xfrm>
            <a:off x="6275131" y="1242318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Admission Management</a:t>
            </a:r>
            <a:endParaRPr lang="en-US" sz="1350" b="1" dirty="0"/>
          </a:p>
        </p:txBody>
      </p:sp>
      <p:sp>
        <p:nvSpPr>
          <p:cNvPr id="8" name="Text 6"/>
          <p:cNvSpPr/>
          <p:nvPr/>
        </p:nvSpPr>
        <p:spPr>
          <a:xfrm>
            <a:off x="6237528" y="1541739"/>
            <a:ext cx="5261439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Each patient can have multiple admissions.</a:t>
            </a:r>
            <a:endParaRPr lang="en-US" sz="1100" b="1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Admission information includes:</a:t>
            </a:r>
            <a:endParaRPr lang="en-US" sz="1100" b="1" dirty="0"/>
          </a:p>
        </p:txBody>
      </p:sp>
      <p:sp>
        <p:nvSpPr>
          <p:cNvPr id="9" name="Text 7"/>
          <p:cNvSpPr/>
          <p:nvPr/>
        </p:nvSpPr>
        <p:spPr>
          <a:xfrm>
            <a:off x="6275131" y="2158206"/>
            <a:ext cx="5261439" cy="1612305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Admission ID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Admission Type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Ward Type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Discharge Type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Length of Stay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Number of Procedures</a:t>
            </a:r>
            <a:endParaRPr lang="en-US" sz="1100" b="1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Charlson Index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630222" y="3984923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Automatic Admission ID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29400" y="4359638"/>
            <a:ext cx="10868745" cy="51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10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New admissions are automatically assigned sequential IDs.</a:t>
            </a:r>
            <a:endParaRPr lang="en-US" sz="1100" b="1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Example:</a:t>
            </a:r>
            <a:endParaRPr lang="en-US" sz="1100" b="1" dirty="0"/>
          </a:p>
        </p:txBody>
      </p:sp>
      <p:sp>
        <p:nvSpPr>
          <p:cNvPr id="12" name="Shape 10"/>
          <p:cNvSpPr/>
          <p:nvPr/>
        </p:nvSpPr>
        <p:spPr>
          <a:xfrm>
            <a:off x="661475" y="4984055"/>
            <a:ext cx="10868745" cy="1022350"/>
          </a:xfrm>
          <a:prstGeom prst="roundRect">
            <a:avLst>
              <a:gd name="adj" fmla="val 12480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825" y="4990405"/>
            <a:ext cx="5428023" cy="504825"/>
          </a:xfrm>
          <a:custGeom>
            <a:avLst/>
            <a:gdLst/>
            <a:ahLst/>
            <a:cxnLst/>
            <a:rect l="l" t="t" r="r" b="b"/>
            <a:pathLst>
              <a:path w="5428023" h="504825">
                <a:moveTo>
                  <a:pt x="106323" y="0"/>
                </a:moveTo>
                <a:lnTo>
                  <a:pt x="5428023" y="0"/>
                </a:lnTo>
                <a:lnTo>
                  <a:pt x="5428023" y="504825"/>
                </a:lnTo>
                <a:lnTo>
                  <a:pt x="0" y="504825"/>
                </a:lnTo>
                <a:lnTo>
                  <a:pt x="0" y="106326"/>
                </a:lnTo>
                <a:arcTo wR="106323" hR="106326" stAng="10800000" swAng="5400000"/>
                <a:close/>
              </a:path>
            </a:pathLst>
          </a:custGeom>
          <a:solidFill>
            <a:srgbClr val="EFF0F6"/>
          </a:solidFill>
          <a:ln/>
        </p:spPr>
      </p:sp>
      <p:sp>
        <p:nvSpPr>
          <p:cNvPr id="14" name="Text 12"/>
          <p:cNvSpPr/>
          <p:nvPr/>
        </p:nvSpPr>
        <p:spPr>
          <a:xfrm>
            <a:off x="809506" y="5132090"/>
            <a:ext cx="514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A10067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5848" y="4990405"/>
            <a:ext cx="5428023" cy="504825"/>
          </a:xfrm>
          <a:custGeom>
            <a:avLst/>
            <a:gdLst/>
            <a:ahLst/>
            <a:cxnLst/>
            <a:rect l="l" t="t" r="r" b="b"/>
            <a:pathLst>
              <a:path w="5428023" h="504825">
                <a:moveTo>
                  <a:pt x="0" y="0"/>
                </a:moveTo>
                <a:lnTo>
                  <a:pt x="5321700" y="0"/>
                </a:lnTo>
                <a:arcTo wR="106323" hR="106326" stAng="16200000" swAng="5400000"/>
                <a:lnTo>
                  <a:pt x="5428023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EFF0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4990405"/>
            <a:ext cx="19050" cy="504825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17" name="Text 15"/>
          <p:cNvSpPr/>
          <p:nvPr/>
        </p:nvSpPr>
        <p:spPr>
          <a:xfrm>
            <a:off x="6237528" y="5132090"/>
            <a:ext cx="514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A10068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7825" y="5495230"/>
            <a:ext cx="5428023" cy="504825"/>
          </a:xfrm>
          <a:custGeom>
            <a:avLst/>
            <a:gdLst/>
            <a:ahLst/>
            <a:cxnLst/>
            <a:rect l="l" t="t" r="r" b="b"/>
            <a:pathLst>
              <a:path w="5428023" h="504825">
                <a:moveTo>
                  <a:pt x="0" y="0"/>
                </a:moveTo>
                <a:lnTo>
                  <a:pt x="5428023" y="0"/>
                </a:lnTo>
                <a:lnTo>
                  <a:pt x="5428023" y="504825"/>
                </a:lnTo>
                <a:lnTo>
                  <a:pt x="106323" y="504825"/>
                </a:lnTo>
                <a:arcTo wR="106323" hR="106326" stAng="5400000" swAng="5400000"/>
                <a:lnTo>
                  <a:pt x="0" y="0"/>
                </a:lnTo>
                <a:close/>
              </a:path>
            </a:pathLst>
          </a:custGeom>
          <a:solidFill>
            <a:srgbClr val="EFF0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825" y="5495230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20" name="Text 18"/>
          <p:cNvSpPr/>
          <p:nvPr/>
        </p:nvSpPr>
        <p:spPr>
          <a:xfrm>
            <a:off x="809506" y="5636915"/>
            <a:ext cx="514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A10069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95848" y="5495230"/>
            <a:ext cx="5428023" cy="504825"/>
          </a:xfrm>
          <a:custGeom>
            <a:avLst/>
            <a:gdLst/>
            <a:ahLst/>
            <a:cxnLst/>
            <a:rect l="l" t="t" r="r" b="b"/>
            <a:pathLst>
              <a:path w="5428023" h="504825">
                <a:moveTo>
                  <a:pt x="0" y="0"/>
                </a:moveTo>
                <a:lnTo>
                  <a:pt x="5428023" y="0"/>
                </a:lnTo>
                <a:lnTo>
                  <a:pt x="5428023" y="398499"/>
                </a:lnTo>
                <a:arcTo wR="106323" hR="106326" stAng="0" swAng="5400000"/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EFF0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5495230"/>
            <a:ext cx="19050" cy="504825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5495230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5C7D2"/>
          </a:solidFill>
          <a:ln/>
        </p:spPr>
      </p:sp>
      <p:sp>
        <p:nvSpPr>
          <p:cNvPr id="24" name="Text 22"/>
          <p:cNvSpPr/>
          <p:nvPr/>
        </p:nvSpPr>
        <p:spPr>
          <a:xfrm>
            <a:off x="6237528" y="5636915"/>
            <a:ext cx="51446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A10070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61475" y="6125964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allows the system to support multiple admissions instead of being limited to the initial records.</a:t>
            </a:r>
            <a:endParaRPr lang="en-US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6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206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Clinical Information</a:t>
            </a:r>
            <a:endParaRPr lang="en-US" sz="3700" b="1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5142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prediction system uses important clinical measurements such as:</a:t>
            </a:r>
            <a:endParaRPr lang="en-US" sz="145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29321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7380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HbA1c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029321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27380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Creatinine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029321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64794" y="27380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Haemoglobin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1339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412005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Systolic Blood Pressure</a:t>
            </a:r>
            <a:endParaRPr lang="en-US" sz="1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3411339"/>
            <a:ext cx="472468" cy="472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363135" y="412005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Length of Stay</a:t>
            </a:r>
            <a:endParaRPr lang="en-US" sz="18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3411339"/>
            <a:ext cx="472468" cy="4724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064794" y="412005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Number of Procedures</a:t>
            </a:r>
            <a:endParaRPr lang="en-US" sz="18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793357"/>
            <a:ext cx="472468" cy="4724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86342" y="550207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Charlson Index</a:t>
            </a:r>
            <a:endParaRPr lang="en-US" sz="1850" dirty="0"/>
          </a:p>
        </p:txBody>
      </p:sp>
      <p:sp>
        <p:nvSpPr>
          <p:cNvPr id="18" name="Text 9"/>
          <p:cNvSpPr/>
          <p:nvPr/>
        </p:nvSpPr>
        <p:spPr>
          <a:xfrm>
            <a:off x="661475" y="60099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These values provide information about the patient's clinical condition and healthcare utilization</a:t>
            </a: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81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206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Machine Learning Module</a:t>
            </a:r>
            <a:endParaRPr lang="en-US" sz="3700" b="1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25350" y="1752302"/>
            <a:ext cx="5476043" cy="3290689"/>
          </a:xfrm>
          <a:prstGeom prst="roundRect">
            <a:avLst>
              <a:gd name="adj" fmla="val 8271"/>
            </a:avLst>
          </a:prstGeom>
          <a:solidFill>
            <a:srgbClr val="C6C9DC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194131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Machine Learning Models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425601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project considers multiple Machine Learning algorithms:</a:t>
            </a:r>
            <a:endParaRPr lang="en-US" sz="1450" b="1" dirty="0"/>
          </a:p>
        </p:txBody>
      </p:sp>
      <p:sp>
        <p:nvSpPr>
          <p:cNvPr id="6" name="Text 4"/>
          <p:cNvSpPr/>
          <p:nvPr/>
        </p:nvSpPr>
        <p:spPr>
          <a:xfrm>
            <a:off x="714357" y="3200499"/>
            <a:ext cx="5098029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Logistic Regression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Decision Tree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Random Forest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Gradient Boosting</a:t>
            </a:r>
            <a:endParaRPr lang="en-US" sz="1450" b="1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XGBoost</a:t>
            </a:r>
            <a:endParaRPr lang="en-US" sz="1450" b="1" dirty="0"/>
          </a:p>
        </p:txBody>
      </p:sp>
      <p:sp>
        <p:nvSpPr>
          <p:cNvPr id="7" name="Text 5"/>
          <p:cNvSpPr/>
          <p:nvPr/>
        </p:nvSpPr>
        <p:spPr>
          <a:xfrm>
            <a:off x="6332776" y="194131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Purpose</a:t>
            </a:r>
            <a:endParaRPr lang="en-US" sz="1850" b="1" dirty="0"/>
          </a:p>
        </p:txBody>
      </p:sp>
      <p:sp>
        <p:nvSpPr>
          <p:cNvPr id="8" name="Text 6"/>
          <p:cNvSpPr/>
          <p:nvPr/>
        </p:nvSpPr>
        <p:spPr>
          <a:xfrm>
            <a:off x="6332776" y="2425601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models learn patterns from historical hospital data and use those patterns to estimate the likelihood of readmission</a:t>
            </a: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352186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Prediction Output</a:t>
            </a:r>
            <a:endParaRPr lang="en-US" sz="1850" b="1" dirty="0"/>
          </a:p>
        </p:txBody>
      </p:sp>
      <p:sp>
        <p:nvSpPr>
          <p:cNvPr id="10" name="Text 8"/>
          <p:cNvSpPr/>
          <p:nvPr/>
        </p:nvSpPr>
        <p:spPr>
          <a:xfrm>
            <a:off x="6332776" y="4006155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system produces</a:t>
            </a:r>
            <a:r>
              <a:rPr lang="en-US" sz="14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</a:t>
            </a:r>
            <a:endParaRPr lang="en-US" sz="1450" b="1" dirty="0"/>
          </a:p>
        </p:txBody>
      </p:sp>
      <p:sp>
        <p:nvSpPr>
          <p:cNvPr id="11" name="Shape 9"/>
          <p:cNvSpPr/>
          <p:nvPr/>
        </p:nvSpPr>
        <p:spPr>
          <a:xfrm>
            <a:off x="661475" y="5255617"/>
            <a:ext cx="2575357" cy="724098"/>
          </a:xfrm>
          <a:prstGeom prst="roundRect">
            <a:avLst>
              <a:gd name="adj" fmla="val 23494"/>
            </a:avLst>
          </a:prstGeom>
          <a:solidFill>
            <a:srgbClr val="FFFFFF"/>
          </a:solidFill>
          <a:ln w="25399">
            <a:solidFill>
              <a:srgbClr val="C5C7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881" y="5470029"/>
            <a:ext cx="21465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Readmission Risk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3425839" y="5255617"/>
            <a:ext cx="2575456" cy="724098"/>
          </a:xfrm>
          <a:prstGeom prst="roundRect">
            <a:avLst>
              <a:gd name="adj" fmla="val 23494"/>
            </a:avLst>
          </a:prstGeom>
          <a:solidFill>
            <a:srgbClr val="FFFFFF"/>
          </a:solidFill>
          <a:ln w="25399">
            <a:solidFill>
              <a:srgbClr val="C5C7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0245" y="5470029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Probability Score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190301" y="5255617"/>
            <a:ext cx="2575456" cy="724098"/>
          </a:xfrm>
          <a:prstGeom prst="roundRect">
            <a:avLst>
              <a:gd name="adj" fmla="val 23494"/>
            </a:avLst>
          </a:prstGeom>
          <a:solidFill>
            <a:srgbClr val="FFFFFF"/>
          </a:solidFill>
          <a:ln w="25399">
            <a:solidFill>
              <a:srgbClr val="C5C7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4708" y="5470029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Risk Classification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954764" y="5255617"/>
            <a:ext cx="2575456" cy="724098"/>
          </a:xfrm>
          <a:prstGeom prst="roundRect">
            <a:avLst>
              <a:gd name="adj" fmla="val 23494"/>
            </a:avLst>
          </a:prstGeom>
          <a:solidFill>
            <a:srgbClr val="FFFFFF"/>
          </a:solidFill>
          <a:ln w="25399">
            <a:solidFill>
              <a:srgbClr val="C5C7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9171" y="5470029"/>
            <a:ext cx="2146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Risk Factors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7DEA3-1705-0250-F5B1-05D2DE35C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2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12B3BB-6731-5128-E260-2C4AB5F21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10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856103-62D8-55C6-3EBF-C6A5FD55ED2E}"/>
              </a:ext>
            </a:extLst>
          </p:cNvPr>
          <p:cNvSpPr txBox="1"/>
          <p:nvPr/>
        </p:nvSpPr>
        <p:spPr>
          <a:xfrm>
            <a:off x="93305" y="889844"/>
            <a:ext cx="116912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070C0"/>
                </a:solidFill>
              </a:rPr>
              <a:t>CONCLUSION: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AI Hospital Readmission Prediction System</a:t>
            </a:r>
            <a:r>
              <a:rPr lang="en-IN" dirty="0"/>
              <a:t> provides an intelligent approach to identifying patients who may be at risk of hospital readmission.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combines </a:t>
            </a:r>
            <a:r>
              <a:rPr lang="en-IN" b="1" dirty="0"/>
              <a:t>patient information, admission details, clinical measurements, and medical history</a:t>
            </a:r>
            <a:r>
              <a:rPr lang="en-IN" dirty="0"/>
              <a:t> for prediction.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machine learning model</a:t>
            </a:r>
            <a:r>
              <a:rPr lang="en-IN" dirty="0"/>
              <a:t> generates a readmission probability and classifies patients into </a:t>
            </a:r>
            <a:r>
              <a:rPr lang="en-IN" b="1" dirty="0"/>
              <a:t>Low, Medium, or High risk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application provides </a:t>
            </a:r>
            <a:r>
              <a:rPr lang="en-IN" b="1" dirty="0"/>
              <a:t>prediction history and dashboards</a:t>
            </a:r>
            <a:r>
              <a:rPr lang="en-IN" dirty="0"/>
              <a:t> to support healthcare professionals in monitoring patient risk.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Early identification of high-risk patients can support </a:t>
            </a:r>
            <a:r>
              <a:rPr lang="en-IN" b="1" dirty="0"/>
              <a:t>better follow-up care and timely intervention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can be further enhanced with </a:t>
            </a:r>
            <a:r>
              <a:rPr lang="en-IN" b="1" dirty="0"/>
              <a:t>real-time alerts, EHR integration, mobile applications, and advanced machine learning models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3770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154E1A-A37D-72E7-13EF-B35F4B46E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20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29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704</Words>
  <Application>Microsoft Office PowerPoint</Application>
  <PresentationFormat>Widescreen</PresentationFormat>
  <Paragraphs>177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Montserrat Medium</vt:lpstr>
      <vt:lpstr>Montserrat Light</vt:lpstr>
      <vt:lpstr>Arial</vt:lpstr>
      <vt:lpstr>Inter Bold</vt:lpstr>
      <vt:lpstr>Consolas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 Keerthi</dc:creator>
  <cp:lastModifiedBy>K keerthi</cp:lastModifiedBy>
  <cp:revision>7</cp:revision>
  <dcterms:created xsi:type="dcterms:W3CDTF">2026-08-28T13:47:08Z</dcterms:created>
  <dcterms:modified xsi:type="dcterms:W3CDTF">2026-09-10T04:34:59Z</dcterms:modified>
</cp:coreProperties>
</file>